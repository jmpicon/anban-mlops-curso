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MLOps / DataOps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B4D8"/>
                </a:solidFill>
                <a:latin typeface="Calibri"/>
              </a:rPr>
              <a:t>De la prueba de concepto a producción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49039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Día 1 — DataOps y fundamentos de MLOps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ANBAN · Asociación Big Data España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José Picón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Quién soy y qué vamos a hacer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intro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Sobre el docente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●  </a:t>
            </a:r>
            <a:r>
              <a:rPr sz="1600">
                <a:solidFill>
                  <a:srgbClr val="1A1D29"/>
                </a:solidFill>
              </a:rPr>
              <a:t>Ingeniero de seguridad y datos.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●  </a:t>
            </a:r>
            <a:r>
              <a:rPr sz="1600">
                <a:solidFill>
                  <a:srgbClr val="1A1D29"/>
                </a:solidFill>
              </a:rPr>
              <a:t>Docente Curso Especialización ENS y formaciones de Big Data.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●  </a:t>
            </a:r>
            <a:r>
              <a:rPr sz="1600">
                <a:solidFill>
                  <a:srgbClr val="1A1D29"/>
                </a:solidFill>
              </a:rPr>
              <a:t>Experiencia llevando modelos a producción en sectores regulados.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Cómo trabajaremos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4864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●  </a:t>
            </a:r>
            <a:r>
              <a:rPr sz="1600">
                <a:solidFill>
                  <a:srgbClr val="1A1D29"/>
                </a:solidFill>
              </a:rPr>
              <a:t>Teoría densa pero al grano (≈30%).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●  </a:t>
            </a:r>
            <a:r>
              <a:rPr sz="1600">
                <a:solidFill>
                  <a:srgbClr val="1A1D29"/>
                </a:solidFill>
              </a:rPr>
              <a:t>Laboratorios reproducibles con Docker (≈60%).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●  </a:t>
            </a:r>
            <a:r>
              <a:rPr sz="1600">
                <a:solidFill>
                  <a:srgbClr val="1A1D29"/>
                </a:solidFill>
              </a:rPr>
              <a:t>Discusión y dudas en cualquier momento (≈10%).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●  </a:t>
            </a:r>
            <a:r>
              <a:rPr sz="1600">
                <a:solidFill>
                  <a:srgbClr val="1A1D29"/>
                </a:solidFill>
              </a:rPr>
              <a:t>Todo el material en el repositorio del curso.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20640"/>
            <a:ext cx="11247120" cy="9144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Regla del curso: ningún modelo en producción si no podemos contar su trazabilidad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 / 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 · Día 1 (4 horas)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554480" cy="6400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00:00–00:45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1280160"/>
            <a:ext cx="82296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2801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28016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D29"/>
                </a:solidFill>
                <a:latin typeface="Calibri"/>
              </a:rPr>
              <a:t>Introducción MLOps/DataOps y madurez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57400"/>
            <a:ext cx="1554480" cy="64008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00:45–01:00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2057400"/>
            <a:ext cx="82296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0574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0574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D29"/>
                </a:solidFill>
                <a:latin typeface="Calibri"/>
              </a:rPr>
              <a:t>Pausa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34640"/>
            <a:ext cx="1554480" cy="6400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01:00–02:15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2834640"/>
            <a:ext cx="82296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28346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83464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D29"/>
                </a:solidFill>
                <a:latin typeface="Calibri"/>
              </a:rPr>
              <a:t>DataOps: pipelines, DVC, Great Expectations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11880"/>
            <a:ext cx="1554480" cy="64008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02:15–02:30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3611880"/>
            <a:ext cx="82296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361188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61188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D29"/>
                </a:solidFill>
                <a:latin typeface="Calibri"/>
              </a:rPr>
              <a:t>Pausa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89120"/>
            <a:ext cx="155448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02:30–03:45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4560" y="4389120"/>
            <a:ext cx="82296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43891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8912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D29"/>
                </a:solidFill>
                <a:latin typeface="Calibri"/>
              </a:rPr>
              <a:t>Experiment tracking con MLflow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166360"/>
            <a:ext cx="155448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1663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03:45–04:00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0" y="5166360"/>
            <a:ext cx="82296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51663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16636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D29"/>
                </a:solidFill>
                <a:latin typeface="Calibri"/>
              </a:rPr>
              <a:t>Cierre y reto del día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 / 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Objetivos del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intro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Al terminar el curso serás capaz de…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Diagnosticar la madurez MLOps de tu organización (L0/L1/L2).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Versionar datos y validarlos automáticamente (DVC + GE).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Trazar y reproducir cualquier experimento (MLflow + Registry).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Servir un modelo como API en contenedor (FastAPI + Docker).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Automatizar el pipeline ML completo con CI/CD (GitHub Actions).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Detectar drift y degradación (Evidently) y reaccionar.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Aplicar governance: feature store, model cards, RGPD/AI 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 / 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Módulo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Introducción a MLOps &amp; DataOps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  <a:latin typeface="Calibri"/>
              </a:rPr>
              <a:t>Por qué existe la disciplina y qué problema resuelve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 / 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¿Por qué existe MLOps?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6B35"/>
                </a:solidFill>
                <a:latin typeface="Calibri"/>
              </a:rPr>
              <a:t>El 87% de los proyectos de ML nunca llegan a producción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(VentureBeat / Algorithmia · 2020)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2697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26974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2608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Calidad inestable, sin versionado, sin lineage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286000"/>
            <a:ext cx="2697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9272" y="2286000"/>
            <a:ext cx="26974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22860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Reproducibilidad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92608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Notebooks irrepetibles, semillas no fijadas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286000"/>
            <a:ext cx="2697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2286000"/>
            <a:ext cx="26974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22860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Despliegue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292608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Train ≠ serve, sin contrato de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2286000"/>
            <a:ext cx="2697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43416" y="2286000"/>
            <a:ext cx="26974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3416" y="22860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Operación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92608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Sin monitoring, sin drift, sin rollback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72000"/>
            <a:ext cx="112471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MLOps = la disciplina que se asegura de que el modelo llegue a producción y se mantenga útil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 / 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Deuda técnica oculta en sistemas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Sculley et al., NeurIPS 2015 · "Hidden Technical Debt in ML Systems"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7132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164592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A1D29"/>
                </a:solidFill>
                <a:latin typeface="Calibri"/>
              </a:rPr>
              <a:t>Configuración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011680"/>
            <a:ext cx="219456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011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A1D29"/>
                </a:solidFill>
                <a:latin typeface="Calibri"/>
              </a:rPr>
              <a:t>Recolección de datos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011680"/>
            <a:ext cx="182880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0116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A1D29"/>
                </a:solidFill>
                <a:latin typeface="Calibri"/>
              </a:rPr>
              <a:t>Análisis de datos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43200"/>
            <a:ext cx="228600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432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A1D29"/>
                </a:solidFill>
                <a:latin typeface="Calibri"/>
              </a:rPr>
              <a:t>Recursos máquina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743200"/>
            <a:ext cx="182880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7432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A1D29"/>
                </a:solidFill>
                <a:latin typeface="Calibri"/>
              </a:rPr>
              <a:t>Tooling serving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2743200"/>
            <a:ext cx="155448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27432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A1D29"/>
                </a:solidFill>
                <a:latin typeface="Calibri"/>
              </a:rPr>
              <a:t>Monitoring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474720"/>
            <a:ext cx="228600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747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A1D29"/>
                </a:solidFill>
                <a:latin typeface="Calibri"/>
              </a:rPr>
              <a:t>Pipelines de datos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474720"/>
            <a:ext cx="228600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4747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A1D29"/>
                </a:solidFill>
                <a:latin typeface="Calibri"/>
              </a:rPr>
              <a:t>Tests automatizados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06240"/>
            <a:ext cx="274320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2062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A1D29"/>
                </a:solidFill>
                <a:latin typeface="Calibri"/>
              </a:rPr>
              <a:t>Gestión de procesos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206240"/>
            <a:ext cx="292608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42062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A1D29"/>
                </a:solidFill>
                <a:latin typeface="Calibri"/>
              </a:rPr>
              <a:t>Análisis de errores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937760"/>
            <a:ext cx="320040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377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A1D29"/>
                </a:solidFill>
                <a:latin typeface="Calibri"/>
              </a:rPr>
              <a:t>Verificación de features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0" y="4937760"/>
            <a:ext cx="256032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49377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A1D29"/>
                </a:solidFill>
                <a:latin typeface="Calibri"/>
              </a:rPr>
              <a:t>Sistemas de despliegue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3520440"/>
            <a:ext cx="1280160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35204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ML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1828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Lectura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2286000"/>
            <a:ext cx="41148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El código del modelo es una fracción del sistema.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El resto es infraestructura, datos y operación.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MLOps gestiona toda la caja, no solo el código.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Ignorar lo que rodea al modelo es la causa #1 de fallo.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 / 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Las tres dimensiones de MLOps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74903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749039" cy="6400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D29"/>
                </a:solidFill>
                <a:latin typeface="Calibri"/>
              </a:rPr>
              <a:t>Software tradicional. Git, tests, build.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Disciplina: DevOps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280160"/>
            <a:ext cx="374903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280160"/>
            <a:ext cx="3749039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28016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10312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D29"/>
                </a:solidFill>
                <a:latin typeface="Calibri"/>
              </a:rPr>
              <a:t>Cambian, crecen, se contaminan. Versionado y validación.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7548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Disciplina: DataOps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5" y="1280160"/>
            <a:ext cx="374903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5" y="1280160"/>
            <a:ext cx="3749039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128016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5" y="210312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D29"/>
                </a:solidFill>
                <a:latin typeface="Calibri"/>
              </a:rPr>
              <a:t>Función entrenada del par (datos, código). Reentrena.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5" y="47548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Disciplina: ModelOps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669280"/>
            <a:ext cx="1124712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MLOps = unión coherente de las tres dimensiones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 / 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DevOps vs DataOps vs MLOps vs LLMOps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1828800" cy="5943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188720"/>
            <a:ext cx="228600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18872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DevOps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188720"/>
            <a:ext cx="246888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18872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DataOps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188720"/>
            <a:ext cx="274320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18872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MLOps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188720"/>
            <a:ext cx="274320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18872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LLMOps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783080"/>
            <a:ext cx="18288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78308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D29"/>
                </a:solidFill>
                <a:latin typeface="Calibri"/>
              </a:rPr>
              <a:t>Artefacto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1783080"/>
            <a:ext cx="22860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178308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Aplicación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1783080"/>
            <a:ext cx="246888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78308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Pipeline de datos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783080"/>
            <a:ext cx="27432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178308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Modelo + datos + código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1783080"/>
            <a:ext cx="27432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78308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LLM + prompt + RAG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377440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D29"/>
                </a:solidFill>
                <a:latin typeface="Calibri"/>
              </a:rPr>
              <a:t>Cambio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377440"/>
            <a:ext cx="2286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237744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Determinista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2377440"/>
            <a:ext cx="24688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237744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Datos cambian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2377440"/>
            <a:ext cx="2743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237744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Datos y modelo cambian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0" y="2377440"/>
            <a:ext cx="2743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237744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Modelo opaco, prompt cambia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971800"/>
            <a:ext cx="18288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297180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D29"/>
                </a:solidFill>
                <a:latin typeface="Calibri"/>
              </a:rPr>
              <a:t>CI/CD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2971800"/>
            <a:ext cx="22860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29718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Test, build, deploy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2971800"/>
            <a:ext cx="246888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297180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Test datos, dq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2971800"/>
            <a:ext cx="27432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297180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+ Train + Eval + Promote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92640" y="2971800"/>
            <a:ext cx="27432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84080" y="297180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+ Eval LLM, regresión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566160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56616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D29"/>
                </a:solidFill>
                <a:latin typeface="Calibri"/>
              </a:rPr>
              <a:t>Monitoring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94560" y="3566160"/>
            <a:ext cx="2286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0" y="356616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Latencia, errores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0" y="3566160"/>
            <a:ext cx="24688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0" y="356616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Calidad, freshness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49440" y="3566160"/>
            <a:ext cx="2743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0880" y="35661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+ Drift, performance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92640" y="3566160"/>
            <a:ext cx="2743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84080" y="35661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+ Tóxico, alucinación, coste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160520"/>
            <a:ext cx="18288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16052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D29"/>
                </a:solidFill>
                <a:latin typeface="Calibri"/>
              </a:rPr>
              <a:t>Versionado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94560" y="4160520"/>
            <a:ext cx="22860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0" y="416052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Git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80560" y="4160520"/>
            <a:ext cx="246888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0" y="416052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Git + DVC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49440" y="4160520"/>
            <a:ext cx="27432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40880" y="416052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Git + DVC + Registry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92640" y="4160520"/>
            <a:ext cx="2743200" cy="59436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84080" y="416052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D29"/>
                </a:solidFill>
                <a:latin typeface="Calibri"/>
              </a:rPr>
              <a:t>+ prompt registry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 / 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CRISP-DM → CRISP-ML(Q): cambia el ciclo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B7280"/>
                </a:solidFill>
                <a:latin typeface="Calibri"/>
              </a:rPr>
              <a:t>CRISP-DM (1996)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●  </a:t>
            </a:r>
            <a:r>
              <a:rPr sz="1600">
                <a:solidFill>
                  <a:srgbClr val="1A1D29"/>
                </a:solidFill>
              </a:rPr>
              <a:t>Business Understanding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●  </a:t>
            </a:r>
            <a:r>
              <a:rPr sz="1600">
                <a:solidFill>
                  <a:srgbClr val="1A1D29"/>
                </a:solidFill>
              </a:rPr>
              <a:t>Data Understanding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●  </a:t>
            </a:r>
            <a:r>
              <a:rPr sz="1600">
                <a:solidFill>
                  <a:srgbClr val="1A1D29"/>
                </a:solidFill>
              </a:rPr>
              <a:t>Data Preparation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●  </a:t>
            </a:r>
            <a:r>
              <a:rPr sz="1600">
                <a:solidFill>
                  <a:srgbClr val="1A1D29"/>
                </a:solidFill>
              </a:rPr>
              <a:t>Modeling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●  </a:t>
            </a:r>
            <a:r>
              <a:rPr sz="1600">
                <a:solidFill>
                  <a:srgbClr val="1A1D29"/>
                </a:solidFill>
              </a:rPr>
              <a:t>Evaluation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●  </a:t>
            </a:r>
            <a:r>
              <a:rPr sz="1600">
                <a:solidFill>
                  <a:srgbClr val="1A1D29"/>
                </a:solidFill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Pensado para entregables únicos.</a:t>
            </a:r>
          </a:p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No contempla mantener el modelo.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CRISP-ML(Q) (2021)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54864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Business &amp; Data</a:t>
            </a:r>
            <a:r>
              <a:rPr sz="1300">
                <a:solidFill>
                  <a:srgbClr val="6B7280"/>
                </a:solidFill>
              </a:rPr>
              <a:t> — objetivos y datos viables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Data Engineering</a:t>
            </a:r>
            <a:r>
              <a:rPr sz="1300">
                <a:solidFill>
                  <a:srgbClr val="6B7280"/>
                </a:solidFill>
              </a:rPr>
              <a:t> — data quality requirements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ML Modeling</a:t>
            </a:r>
            <a:r>
              <a:rPr sz="1300">
                <a:solidFill>
                  <a:srgbClr val="6B7280"/>
                </a:solidFill>
              </a:rPr>
              <a:t> — + quality gates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Evaluation</a:t>
            </a:r>
            <a:r>
              <a:rPr sz="1300">
                <a:solidFill>
                  <a:srgbClr val="6B7280"/>
                </a:solidFill>
              </a:rPr>
              <a:t> — robustez, fairness, explicabilidad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Deployment</a:t>
            </a:r>
            <a:r>
              <a:rPr sz="1300">
                <a:solidFill>
                  <a:srgbClr val="6B7280"/>
                </a:solidFill>
              </a:rPr>
              <a:t> — patrones de release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Monitoring &amp; Maintenance</a:t>
            </a:r>
            <a:r>
              <a:rPr sz="1300">
                <a:solidFill>
                  <a:srgbClr val="6B7280"/>
                </a:solidFill>
              </a:rPr>
              <a:t> — el bucle, no el final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852160"/>
            <a:ext cx="530352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85216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Calidad como requisito explícito en cada fase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 / 44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Madurez MLOps · Manual / Notebook-driven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2286000" cy="228600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L0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801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Manual / Notebook-driven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28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B7280"/>
                </a:solidFill>
                <a:latin typeface="Calibri"/>
              </a:rPr>
              <a:t>Características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86000"/>
            <a:ext cx="82296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Notebooks como entregable final.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Despliegue manual, sin tests de modelo.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Sin versionado de datos ni modelos.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Comunicación humana entre data y SW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Síntomas/Problemas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9728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⚠  </a:t>
            </a:r>
            <a:r>
              <a:rPr sz="1500">
                <a:solidFill>
                  <a:srgbClr val="1A1D29"/>
                </a:solidFill>
              </a:rPr>
              <a:t>No se reproduce nada que no sea trivial.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⚠  </a:t>
            </a:r>
            <a:r>
              <a:rPr sz="1500">
                <a:solidFill>
                  <a:srgbClr val="1A1D29"/>
                </a:solidFill>
              </a:rPr>
              <a:t>Mantener el modelo ocupa más que crearlo.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⚠  </a:t>
            </a:r>
            <a:r>
              <a:rPr sz="1500">
                <a:solidFill>
                  <a:srgbClr val="1A1D29"/>
                </a:solidFill>
              </a:rPr>
              <a:t>Auditoría imposible (¿quién entrenó esto?).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 / 44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Madurez MLOps · ML pipeline automatizado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2286000" cy="22860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801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ML pipeline automatizado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28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Calibri"/>
              </a:rPr>
              <a:t>Características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86000"/>
            <a:ext cx="82296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Pipeline reproducible orquestado.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Datos y modelo versionados.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Reentrenamiento programado o por trigger.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Hay Model Registry con stages.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Síntomas/Problemas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9728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⚠  </a:t>
            </a:r>
            <a:r>
              <a:rPr sz="1500">
                <a:solidFill>
                  <a:srgbClr val="1A1D29"/>
                </a:solidFill>
              </a:rPr>
              <a:t>Promover modelo todavía requiere gente.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⚠  </a:t>
            </a:r>
            <a:r>
              <a:rPr sz="1500">
                <a:solidFill>
                  <a:srgbClr val="1A1D29"/>
                </a:solidFill>
              </a:rPr>
              <a:t>CI/CD del código, no del pipeline ML completo.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⚠  </a:t>
            </a:r>
            <a:r>
              <a:rPr sz="1500">
                <a:solidFill>
                  <a:srgbClr val="1A1D29"/>
                </a:solidFill>
              </a:rPr>
              <a:t>El registro existe pero el rollback no se prueba.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 / 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Madurez MLOps · CI/CD pipelines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2286000" cy="2286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801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CI/CD pipelines 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28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Características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86000"/>
            <a:ext cx="82296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Pipeline ML completo en CI/CD.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Test, train, eval, promote y deploy automatizados.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Continuous Training (CT) con triggers de drift.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Observabilidad completa modelo + datos + servicio.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Síntomas/Problemas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9728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⚠  </a:t>
            </a:r>
            <a:r>
              <a:rPr sz="1500">
                <a:solidFill>
                  <a:srgbClr val="1A1D29"/>
                </a:solidFill>
              </a:rPr>
              <a:t>Coste real: requiere plataforma y equipo dedicado.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⚠  </a:t>
            </a:r>
            <a:r>
              <a:rPr sz="1500">
                <a:solidFill>
                  <a:srgbClr val="1A1D29"/>
                </a:solidFill>
              </a:rPr>
              <a:t>No tiene sentido sin volumen y madurez de datos.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⚠  </a:t>
            </a:r>
            <a:r>
              <a:rPr sz="1500">
                <a:solidFill>
                  <a:srgbClr val="1A1D29"/>
                </a:solidFill>
              </a:rPr>
              <a:t>Sobre-ingeniería en proyectos de un solo modelo.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 / 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Roles y responsabilidades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74903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749039" cy="5486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Data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Pipelines, ingesta, calidad, DataOps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280160"/>
            <a:ext cx="374903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280160"/>
            <a:ext cx="3749039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28016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Data Scientist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01168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Hipótesis, EDA, modelado, métrica negocio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1280160"/>
            <a:ext cx="374903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6175" y="1280160"/>
            <a:ext cx="3749039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128016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ML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5" y="201168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Pone el modelo en producción, optimiza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374903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49039"/>
            <a:ext cx="3749039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749039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MLOps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80559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Plataforma: tracking, registry, CI/CD, infra 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749039"/>
            <a:ext cx="374903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A0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3749039"/>
            <a:ext cx="3749039" cy="548640"/>
          </a:xfrm>
          <a:prstGeom prst="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3749039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SRE /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480559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Infra cluster, observabilidad, costes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6175" y="3749039"/>
            <a:ext cx="374903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66175" y="3749039"/>
            <a:ext cx="3749039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5" y="3749039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Product / Negocio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5" y="4480559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Caso de uso, KPI, prioridades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 / 44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Stack moderno típico (open source)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286000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188720"/>
            <a:ext cx="896112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188720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Airbyte · dbt · DVC · LakeFS · Delta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2286000" cy="5486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Calidad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828800"/>
            <a:ext cx="896112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828800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Great Expectations · Soda · Pandera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228600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Orquestación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468880"/>
            <a:ext cx="896112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468880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Airflow · Prefect · Dagster · Argo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08959"/>
            <a:ext cx="2286000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0895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Experiment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108959"/>
            <a:ext cx="896112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3108959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MLflow · Weights &amp; Biases · Neptune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49039"/>
            <a:ext cx="2286000" cy="548640"/>
          </a:xfrm>
          <a:prstGeom prst="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4903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Feature Store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749039"/>
            <a:ext cx="896112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3749039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Feast · Tecton · Hopsworks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89120"/>
            <a:ext cx="228600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Serving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389120"/>
            <a:ext cx="896112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4389120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FastAPI · BentoML · TF Serving · TorchServe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29199"/>
            <a:ext cx="2286000" cy="548640"/>
          </a:xfrm>
          <a:prstGeom prst="rect">
            <a:avLst/>
          </a:prstGeom>
          <a:solidFill>
            <a:srgbClr val="EC4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02919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5029199"/>
            <a:ext cx="896112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5029199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Evidently · WhyLabs · Arize · NannyML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669279"/>
            <a:ext cx="2286000" cy="5486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66927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CI/CD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5669279"/>
            <a:ext cx="896112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5669279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GitHub Actions · GitLab CI · Jenkins · ArgoCD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 / 44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Ejercicio en clase: ¿en qué nivel está tu organización?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B7280"/>
                </a:solidFill>
                <a:latin typeface="Calibri"/>
              </a:rPr>
              <a:t>Marca con un check (en grupo, 8 minutos)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☐  </a:t>
            </a:r>
            <a:r>
              <a:rPr sz="1400">
                <a:solidFill>
                  <a:srgbClr val="1A1D29"/>
                </a:solidFill>
              </a:rPr>
              <a:t>Existe un pipeline reproducible de datos (no hay 'el script de Juan').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☐  </a:t>
            </a:r>
            <a:r>
              <a:rPr sz="1400">
                <a:solidFill>
                  <a:srgbClr val="1A1D29"/>
                </a:solidFill>
              </a:rPr>
              <a:t>El dataset usado para entrenar está versionado y se puede recuperar.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☐  </a:t>
            </a:r>
            <a:r>
              <a:rPr sz="1400">
                <a:solidFill>
                  <a:srgbClr val="1A1D29"/>
                </a:solidFill>
              </a:rPr>
              <a:t>Cada experimento queda registrado: params, métricas y modelo.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☐  </a:t>
            </a:r>
            <a:r>
              <a:rPr sz="1400">
                <a:solidFill>
                  <a:srgbClr val="1A1D29"/>
                </a:solidFill>
              </a:rPr>
              <a:t>Hay un modelo en producción que NO sea un .pkl en el laptop de alguien.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☐  </a:t>
            </a:r>
            <a:r>
              <a:rPr sz="1400">
                <a:solidFill>
                  <a:srgbClr val="1A1D29"/>
                </a:solidFill>
              </a:rPr>
              <a:t>El modelo se sirve detrás de una API con contrato versionado.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☐  </a:t>
            </a:r>
            <a:r>
              <a:rPr sz="1400">
                <a:solidFill>
                  <a:srgbClr val="1A1D29"/>
                </a:solidFill>
              </a:rPr>
              <a:t>Existe un test automático que se ejecuta antes de promocionar un modelo.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☐  </a:t>
            </a:r>
            <a:r>
              <a:rPr sz="1400">
                <a:solidFill>
                  <a:srgbClr val="1A1D29"/>
                </a:solidFill>
              </a:rPr>
              <a:t>Se vigila la distribución de los inputs en producción (drift).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☐  </a:t>
            </a:r>
            <a:r>
              <a:rPr sz="1400">
                <a:solidFill>
                  <a:srgbClr val="1A1D29"/>
                </a:solidFill>
              </a:rPr>
              <a:t>Hay procedimiento de rollback de modelo documentado y probado.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☐  </a:t>
            </a:r>
            <a:r>
              <a:rPr sz="1400">
                <a:solidFill>
                  <a:srgbClr val="1A1D29"/>
                </a:solidFill>
              </a:rPr>
              <a:t>Cada predicción se puede trazar a (modelo, dataset, código).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☐  </a:t>
            </a:r>
            <a:r>
              <a:rPr sz="1400">
                <a:solidFill>
                  <a:srgbClr val="1A1D29"/>
                </a:solidFill>
              </a:rPr>
              <a:t>Existe un Model Registry consultable por alguien que no eres tú.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0–3 → L0  ·  4–6 → L1  ·  7–10 → 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 / 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Módulo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DataOps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  <a:latin typeface="Calibri"/>
              </a:rPr>
              <a:t>Pipelines, versionado y calidad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17 / 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DataOps: principios fundacionales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DataOps = DevOps + Agile + Lean Manufacturing aplicados al dato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5669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Continuous integration de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Cada cambio en el dato se prueba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5669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828800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Observabilidad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Métricas, logs y lineage del dato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46120"/>
            <a:ext cx="5669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Reproducibilidad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9476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Mismo input → mismo 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246120"/>
            <a:ext cx="5669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246120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337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Automatización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9476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Cero pasos manuales en el camino crítico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63440"/>
            <a:ext cx="5669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Calidad por diseño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Tests de datos antes de tests de modelo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663440"/>
            <a:ext cx="5669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663440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754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Iteración rápida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21208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Pequeños cambios validados, no big bang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18 / 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Anatomía de un pipeline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28800"/>
            <a:ext cx="1737360" cy="118872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Ingesta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48840" y="2194560"/>
            <a:ext cx="164592" cy="45720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13432" y="1828800"/>
            <a:ext cx="1737360" cy="11887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2" y="182880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Validación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96512" y="2194560"/>
            <a:ext cx="164592" cy="45720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61104" y="1828800"/>
            <a:ext cx="1737360" cy="11887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182880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Limpieza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44184" y="2194560"/>
            <a:ext cx="164592" cy="45720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08776" y="1828800"/>
            <a:ext cx="1737360" cy="11887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182880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Feature Eng.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91856" y="2194560"/>
            <a:ext cx="164592" cy="45720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56448" y="1828800"/>
            <a:ext cx="1737360" cy="1188720"/>
          </a:xfrm>
          <a:prstGeom prst="round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182880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Almacén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939528" y="2194560"/>
            <a:ext cx="164592" cy="45720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04120" y="1828800"/>
            <a:ext cx="1737360" cy="11887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04120" y="182880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Servir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83280"/>
            <a:ext cx="3749039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747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Ingesta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88620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Schema, conteos vs origen, duplicados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1688" y="3383280"/>
            <a:ext cx="3749039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4747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Validación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388620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Reglas de negocio, rangos, dominios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66175" y="3383280"/>
            <a:ext cx="3749039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9055" y="34747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Limpieza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5" y="388620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Nulos, outliers, normalización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754880"/>
            <a:ext cx="3749039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8463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Feature Eng.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25780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Lineage de cada feature, no leakage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61688" y="4754880"/>
            <a:ext cx="3749039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44568" y="48463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Almacén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4568" y="525780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Particionado, retention, formato (parquet)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66175" y="4754880"/>
            <a:ext cx="3749039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49055" y="48463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Servir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5" y="525780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Train ≠ serve es un bug, no una feature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19 / 44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¿Por qué versionar datos?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B4D8"/>
                </a:solidFill>
              </a:rPr>
              <a:t>●  </a:t>
            </a:r>
            <a:r>
              <a:rPr sz="1700">
                <a:solidFill>
                  <a:srgbClr val="1A1D29"/>
                </a:solidFill>
              </a:rPr>
              <a:t>Reproducir un experimento sin la versión exacta del dataset = imposible.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0B4D8"/>
                </a:solidFill>
              </a:rPr>
              <a:t>●  </a:t>
            </a:r>
            <a:r>
              <a:rPr sz="1700">
                <a:solidFill>
                  <a:srgbClr val="1A1D29"/>
                </a:solidFill>
              </a:rPr>
              <a:t>Auditar una decisión del modelo = imposible si no sabes qué dato lo entrenó.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0B4D8"/>
                </a:solidFill>
              </a:rPr>
              <a:t>●  </a:t>
            </a:r>
            <a:r>
              <a:rPr sz="1700">
                <a:solidFill>
                  <a:srgbClr val="1A1D29"/>
                </a:solidFill>
              </a:rPr>
              <a:t>Volver atrás cuando una nueva muestra contamina el modelo.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0B4D8"/>
                </a:solidFill>
              </a:rPr>
              <a:t>●  </a:t>
            </a:r>
            <a:r>
              <a:rPr sz="1700">
                <a:solidFill>
                  <a:srgbClr val="1A1D29"/>
                </a:solidFill>
              </a:rPr>
              <a:t>Comparar modelos: solo es justo si comparten la misma versión de datos.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0B4D8"/>
                </a:solidFill>
              </a:rPr>
              <a:t>●  </a:t>
            </a:r>
            <a:r>
              <a:rPr sz="1700">
                <a:solidFill>
                  <a:srgbClr val="1A1D29"/>
                </a:solidFill>
              </a:rPr>
              <a:t>Cumplir RGPD / AI Act: derecho al olvido implica saber qué datos se usaron.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11247120" cy="22860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Pero Git no sirve para 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109728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Git almacena cada versión completa: pesos, tarda, y revienta el repo.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Diffs binarios: inútiles.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Repos con &gt;1GB son una pesadilla de clonado.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20 / 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Versionado de datos: DVC y alternativas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286000" cy="10972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DVC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188720"/>
            <a:ext cx="8869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28016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Versiona ficheros con punteros en Git + storage (S3, GCS, local)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78308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Cuándo: ML clásico, datasets de archivos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2286000" cy="10972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LakeFS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468880"/>
            <a:ext cx="8869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56032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Branches y commits sobre object storage (al estilo Git)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6324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Cuándo: Data lakes en S3 con flujos de PR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39"/>
            <a:ext cx="228600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49039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Delta Lake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3749039"/>
            <a:ext cx="8869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3840479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Tablas con time-travel y ACID sobre Parquet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343399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Cuándo: Data warehouse moderno (Spark, Databricks)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29199"/>
            <a:ext cx="2286000" cy="10972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29199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lakeFS + DuckDB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5029199"/>
            <a:ext cx="8869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5120639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Combinación ligera para sandbox 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623559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Cuándo: Equipos pequeños sin Spark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21 / 44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Cómo funciona DVC bajo el capó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dvc add data.csv</a:t>
            </a:r>
            <a:r>
              <a:rPr sz="1300">
                <a:solidFill>
                  <a:srgbClr val="6B7280"/>
                </a:solidFill>
              </a:rPr>
              <a:t> — calcula hash MD5, mueve el fichero a la cache (.dvc/cache)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genera data.csv.dvc</a:t>
            </a:r>
            <a:r>
              <a:rPr sz="1300">
                <a:solidFill>
                  <a:srgbClr val="6B7280"/>
                </a:solidFill>
              </a:rPr>
              <a:t> — fichero pequeño con el hash → versionable en Git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dvc remote</a:t>
            </a:r>
            <a:r>
              <a:rPr sz="1300">
                <a:solidFill>
                  <a:srgbClr val="6B7280"/>
                </a:solidFill>
              </a:rPr>
              <a:t> — configura S3/GCS/MinIO como almacenamiento real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dvc push / pull</a:t>
            </a:r>
            <a:r>
              <a:rPr sz="1300">
                <a:solidFill>
                  <a:srgbClr val="6B7280"/>
                </a:solidFill>
              </a:rPr>
              <a:t> — sincroniza los blobs grandes con el remote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dvc.yaml</a:t>
            </a:r>
            <a:r>
              <a:rPr sz="1300">
                <a:solidFill>
                  <a:srgbClr val="6B7280"/>
                </a:solidFill>
              </a:rPr>
              <a:t> — define stages como un Makefile reproducible (DAG)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dvc repro</a:t>
            </a:r>
            <a:r>
              <a:rPr sz="1300">
                <a:solidFill>
                  <a:srgbClr val="6B7280"/>
                </a:solidFill>
              </a:rPr>
              <a:t> — vuelve a ejecutar solo lo que cambió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11247120" cy="18288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  <a:latin typeface="Consolas"/>
              </a:rPr>
              <a:t># dvc.yaml</a:t>
            </a:r>
          </a:p>
          <a:p>
            <a:pPr algn="l"/>
            <a:r>
              <a:rPr sz="1400" b="0">
                <a:solidFill>
                  <a:srgbClr val="00B4D8"/>
                </a:solidFill>
                <a:latin typeface="Consolas"/>
              </a:rPr>
              <a:t>stages:</a:t>
            </a:r>
          </a:p>
          <a:p>
            <a:pPr algn="l"/>
            <a:r>
              <a:rPr sz="1400" b="0">
                <a:solidFill>
                  <a:srgbClr val="00B4D8"/>
                </a:solidFill>
                <a:latin typeface="Consolas"/>
              </a:rPr>
              <a:t>  validate:</a:t>
            </a:r>
          </a:p>
          <a:p>
            <a:pPr algn="l"/>
            <a:r>
              <a:rPr sz="1400" b="0">
                <a:solidFill>
                  <a:srgbClr val="00B4D8"/>
                </a:solidFill>
                <a:latin typeface="Consolas"/>
              </a:rPr>
              <a:t>    cmd: python validate.py raw/data.csv</a:t>
            </a:r>
          </a:p>
          <a:p>
            <a:pPr algn="l"/>
            <a:r>
              <a:rPr sz="1400" b="0">
                <a:solidFill>
                  <a:srgbClr val="00B4D8"/>
                </a:solidFill>
                <a:latin typeface="Consolas"/>
              </a:rPr>
              <a:t>    deps: [raw/data.csv, validate.py]</a:t>
            </a:r>
          </a:p>
          <a:p>
            <a:pPr algn="l"/>
            <a:r>
              <a:rPr sz="1400" b="0">
                <a:solidFill>
                  <a:srgbClr val="00B4D8"/>
                </a:solidFill>
                <a:latin typeface="Consolas"/>
              </a:rPr>
              <a:t>    outs: [validated/data.parquet]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22 / 44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Calidad de datos: dimensiones a medir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669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828800" cy="685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Completitud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18872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% de campos no nulos sobre los esperados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669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1828800" cy="685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18872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Validez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18872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Cumple el schema, dominio y reglas de negocio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965960"/>
            <a:ext cx="5669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965960"/>
            <a:ext cx="1828800" cy="685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96596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Unicidad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196596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No duplicados en claves naturales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965960"/>
            <a:ext cx="5669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965960"/>
            <a:ext cx="1828800" cy="685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96596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Consistencia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6596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Coherente entre fuentes (ID en CRM = ID en facturación)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743200"/>
            <a:ext cx="5669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743200"/>
            <a:ext cx="1828800" cy="685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432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Precisión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274320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Refleja la realidad (ej. coordenadas correctas)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743200"/>
            <a:ext cx="5669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743200"/>
            <a:ext cx="1828800" cy="685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7432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Frescura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74320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Latencia desde el evento hasta que está disponible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520439"/>
            <a:ext cx="5669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520439"/>
            <a:ext cx="1828800" cy="685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520439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Trazabilidad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3520439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Lineage: ¿de dónde viene este registro?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23 / 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Great Expectations: tests para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Concepto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Suite de expectations declarativas (assertion sobre el dato).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Genera Data Docs HTML como informe legible.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Se integra con Airflow, Prefect, dbt y Spark.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Validation Result auditable en cada ejecución.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Ejemplo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486400" cy="45720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521208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import great_expectations as gx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ctx = gx.get_context()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df = ctx.data_sources['files'].read_csv('data.csv')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df.expect_column_values_to_not_be_null('user_id')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df.expect_column_values_to_be_unique('user_id')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df.expect_column_values_to_be_between(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'age', min_value=0, max_value=120)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df.expect_column_values_to_match_regex(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'email', r'^[\w.-]+@[\w.-]+$')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result = df.validate()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assert result.success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24 / 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Alternativas: Pandera y Soda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Pandera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Validación tipada para DataFrames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5486400" cy="30175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1206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import pandera as pa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schema = pa.DataFrameSchema({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"age":    pa.Column(int, pa.Check.in_range(0, 120)),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"email":  pa.Column(str, pa.Check.str_matches(r"@")),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"amount": pa.Column(float, pa.Check.gt(0)),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})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schema.validate(df)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548640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Sintaxis pythónica, integra con FastAPI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Bueno cuando el equipo ya escribe 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Soda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DSL declarativo en YAML, ideal para SQL warehouses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5486400" cy="30175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51206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# checks.yml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checks for orders: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- row_count &gt; 0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- missing_count(customer_id) = 0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- duplicate_count(order_id) = 0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- freshness(created_at) &lt; 1d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- avg(amount) between 10 and 10000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120640"/>
            <a:ext cx="548640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Cli y servicio (Soda Cloud)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Pensado para warehouses (Snowflake, BigQuery, Postgres)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25 / 44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Orquestadores: ¿cuál uso?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828800" cy="10972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Airflow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188720"/>
            <a:ext cx="9326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280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Veterano, gran ecosistema, UI clásica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7830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Cuándo: ETL pesado, equipos grandes, ya en uso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1828800" cy="10972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Prefect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2468880"/>
            <a:ext cx="9326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560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Pythonic, dynamic DAGs, observabilidad fina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063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Cuándo: Equipos data engineers que viven en Python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39"/>
            <a:ext cx="182880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49039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Dagster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3749039"/>
            <a:ext cx="9326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84047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Asset-oriented, SDA, types, integra dbt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34339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Cuándo: Equipos modernos que piensan en assets, no en tasks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29199"/>
            <a:ext cx="1828800" cy="10972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29199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Argo Wf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5029199"/>
            <a:ext cx="9326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512063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Kubernetes nativo, contenedores como tasks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62355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Cuándo: Cargas ML pesadas en K8s, ya hay plataforma K8s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26 / 44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Lineage y catálogo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Lineage = de dónde viene y a dónde va cada campo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Calibri"/>
              </a:rPr>
              <a:t>Por qué importa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4864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Impact analysis: si cambio esta columna, ¿qué rompe?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Auditoría: ¿qué datos alimentaron este modelo en producción?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RGPD/AI Act: trazabilidad obligatoria para decisiones automatizadas.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Confianza: el consumidor sabe el origen del KPI.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Calibri"/>
              </a:rPr>
              <a:t>Herramientas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54864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OpenLineage</a:t>
            </a:r>
            <a:r>
              <a:rPr sz="1200">
                <a:solidFill>
                  <a:srgbClr val="6B7280"/>
                </a:solidFill>
              </a:rPr>
              <a:t> — estándar abierto, integra con Airflow, dbt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DataHub</a:t>
            </a:r>
            <a:r>
              <a:rPr sz="1200">
                <a:solidFill>
                  <a:srgbClr val="6B7280"/>
                </a:solidFill>
              </a:rPr>
              <a:t> — catálogo open source, LinkedIn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Amundsen</a:t>
            </a:r>
            <a:r>
              <a:rPr sz="1200">
                <a:solidFill>
                  <a:srgbClr val="6B7280"/>
                </a:solidFill>
              </a:rPr>
              <a:t> — search-first, Lyft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Atlas</a:t>
            </a:r>
            <a:r>
              <a:rPr sz="1200">
                <a:solidFill>
                  <a:srgbClr val="6B7280"/>
                </a:solidFill>
              </a:rPr>
              <a:t> — Apache, Hadoop ecosystem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Unity Catalog</a:t>
            </a:r>
            <a:r>
              <a:rPr sz="1200">
                <a:solidFill>
                  <a:srgbClr val="6B7280"/>
                </a:solidFill>
              </a:rPr>
              <a:t> — Databricks, comercial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11247120" cy="6400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Anti-pattern: 'la documentación está en Confluence' ≠ lineage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27 / 44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DataOps anti-patterns que cuestan caro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430000" cy="5029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✗  </a:t>
            </a:r>
            <a:r>
              <a:rPr sz="1500" b="1">
                <a:solidFill>
                  <a:srgbClr val="1A1D29"/>
                </a:solidFill>
              </a:rPr>
              <a:t>'Lo arreglamos en producción'</a:t>
            </a:r>
            <a:r>
              <a:rPr sz="1300">
                <a:solidFill>
                  <a:srgbClr val="6B7280"/>
                </a:solidFill>
              </a:rPr>
              <a:t> — El error de calidad se propaga al modelo y al dashboard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✗  </a:t>
            </a:r>
            <a:r>
              <a:rPr sz="1500" b="1">
                <a:solidFill>
                  <a:srgbClr val="1A1D29"/>
                </a:solidFill>
              </a:rPr>
              <a:t>Una sola tabla 'staging_final_v3'</a:t>
            </a:r>
            <a:r>
              <a:rPr sz="1300">
                <a:solidFill>
                  <a:srgbClr val="6B7280"/>
                </a:solidFill>
              </a:rPr>
              <a:t> — Sin versionado real, todo el mundo escribe encima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✗  </a:t>
            </a:r>
            <a:r>
              <a:rPr sz="1500" b="1">
                <a:solidFill>
                  <a:srgbClr val="1A1D29"/>
                </a:solidFill>
              </a:rPr>
              <a:t>Pipelines manuales</a:t>
            </a:r>
            <a:r>
              <a:rPr sz="1300">
                <a:solidFill>
                  <a:srgbClr val="6B7280"/>
                </a:solidFill>
              </a:rPr>
              <a:t> — Si el pipeline depende de que María ejecute el script, no es pipeline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✗  </a:t>
            </a:r>
            <a:r>
              <a:rPr sz="1500" b="1">
                <a:solidFill>
                  <a:srgbClr val="1A1D29"/>
                </a:solidFill>
              </a:rPr>
              <a:t>Validar al final</a:t>
            </a:r>
            <a:r>
              <a:rPr sz="1300">
                <a:solidFill>
                  <a:srgbClr val="6B7280"/>
                </a:solidFill>
              </a:rPr>
              <a:t> — El bug aparece en las predicciones, no en los datos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✗  </a:t>
            </a:r>
            <a:r>
              <a:rPr sz="1500" b="1">
                <a:solidFill>
                  <a:srgbClr val="1A1D29"/>
                </a:solidFill>
              </a:rPr>
              <a:t>Schema implícito</a:t>
            </a:r>
            <a:r>
              <a:rPr sz="1300">
                <a:solidFill>
                  <a:srgbClr val="6B7280"/>
                </a:solidFill>
              </a:rPr>
              <a:t> — Cambia un nombre de columna y todo cae en cascada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✗  </a:t>
            </a:r>
            <a:r>
              <a:rPr sz="1500" b="1">
                <a:solidFill>
                  <a:srgbClr val="1A1D29"/>
                </a:solidFill>
              </a:rPr>
              <a:t>Sin timezone</a:t>
            </a:r>
            <a:r>
              <a:rPr sz="1300">
                <a:solidFill>
                  <a:srgbClr val="6B7280"/>
                </a:solidFill>
              </a:rPr>
              <a:t> — Eventos de medianoche se duplican o desaparecen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✗  </a:t>
            </a:r>
            <a:r>
              <a:rPr sz="1500" b="1">
                <a:solidFill>
                  <a:srgbClr val="1A1D29"/>
                </a:solidFill>
              </a:rPr>
              <a:t>Sin contrato con upstream</a:t>
            </a:r>
            <a:r>
              <a:rPr sz="1300">
                <a:solidFill>
                  <a:srgbClr val="6B7280"/>
                </a:solidFill>
              </a:rPr>
              <a:t> — El proveedor cambia el formato sin avisar = silenciosa muerte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28 / 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Lab 1 — DataOps reproducible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6400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Objetivo: pipeline de datos versionado, validado y reproducible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Inicializar repo con DVC apuntando a MinIO.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Añadir dataset (UCI Adult Income).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Stage 'validate' con Great Expectations (4 checks).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Stage 'preprocess': encoding + split.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Romper a propósito el dataset → ver el fallo.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dvc repro y observar la ejecución parcial.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Comprobaciones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Existe data/raw/adult.csv.dvc en Git.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El blob real está en MinIO bucket 'datasets'.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ge_validate.py imprime ✓ y deja un Data Doc.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dvc.lock tiene los hashes de cada stage.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git commit del cambio NO incluye el csv.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29 / 44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en vivo: dvc.yaml + 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5120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# 1. inicializar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$ dvc init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$ dvc remote add -d minio s3://datasets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$ dvc remote modify minio endpointurl http://localhost:9000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# 2. añadir dataset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$ dvc add data/raw/adult.csv     # crea adult.csv.dvc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$ git add data/raw/adult.csv.dvc data/raw/.gitignore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# 3. dvc.yaml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stages: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validate: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cmd: python src/ge_validate.py data/raw/adult.csv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deps: [data/raw/adult.csv, src/ge_validate.py]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preprocess: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cmd: python src/preprocess.py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deps: [data/raw/adult.csv, src/preprocess.py]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outs: [data/processed/train.parquet, data/processed/test.parquet]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# 4. ejecutar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$ dvc repro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$ dvc push  # sube blobs a MinIO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30 / 44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Recap Módulo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0B4D8"/>
                </a:solidFill>
              </a:rPr>
              <a:t>●  </a:t>
            </a:r>
            <a:r>
              <a:rPr sz="2000">
                <a:solidFill>
                  <a:srgbClr val="1A1D29"/>
                </a:solidFill>
              </a:rPr>
              <a:t>DataOps no es 'usar Airflow', es disciplina + automatización + calidad.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B4D8"/>
                </a:solidFill>
              </a:rPr>
              <a:t>●  </a:t>
            </a:r>
            <a:r>
              <a:rPr sz="2000">
                <a:solidFill>
                  <a:srgbClr val="1A1D29"/>
                </a:solidFill>
              </a:rPr>
              <a:t>Versiona datos con DVC (o LakeFS/Delta) para reproducir y auditar.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B4D8"/>
                </a:solidFill>
              </a:rPr>
              <a:t>●  </a:t>
            </a:r>
            <a:r>
              <a:rPr sz="2000">
                <a:solidFill>
                  <a:srgbClr val="1A1D29"/>
                </a:solidFill>
              </a:rPr>
              <a:t>Calidad medible en 7 dimensiones; tests con GE/Pandera/Soda.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B4D8"/>
                </a:solidFill>
              </a:rPr>
              <a:t>●  </a:t>
            </a:r>
            <a:r>
              <a:rPr sz="2000">
                <a:solidFill>
                  <a:srgbClr val="1A1D29"/>
                </a:solidFill>
              </a:rPr>
              <a:t>Lineage no es opcional cuando hay decisiones automatizadas.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B4D8"/>
                </a:solidFill>
              </a:rPr>
              <a:t>●  </a:t>
            </a:r>
            <a:r>
              <a:rPr sz="2000">
                <a:solidFill>
                  <a:srgbClr val="1A1D29"/>
                </a:solidFill>
              </a:rPr>
              <a:t>El pipeline acaba en la API/feature store, no en un notebook.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31 / 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Módulo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Experiment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  <a:latin typeface="Calibri"/>
              </a:rPr>
              <a:t>MLflow, Model Registry y reproducibilidad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32 / 44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Ciclo de vida de un modelo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743200" cy="10972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Hipótesis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743200" cy="10972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74320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Preparar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371600"/>
            <a:ext cx="2743200" cy="10972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Entrenar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200"/>
            <a:ext cx="2743200" cy="1097280"/>
          </a:xfrm>
          <a:prstGeom prst="round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432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Evaluar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2743200"/>
            <a:ext cx="2743200" cy="10972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7432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Registrar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743200"/>
            <a:ext cx="2743200" cy="1097280"/>
          </a:xfrm>
          <a:prstGeom prst="roundRect">
            <a:avLst/>
          </a:prstGeom>
          <a:solidFill>
            <a:srgbClr val="EC4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7432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Desplegar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743200"/>
            <a:ext cx="2743200" cy="10972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7432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72000"/>
            <a:ext cx="112471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Es un ciclo: monitor → nueva hipótesis. Si no se cierra, el modelo decae.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33 / 44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¿Qué es 'experiment tracking'?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82296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Registrar los metadatos de cada ejecución de entrenamiento de forma comparable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Qué se registra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Parámetros</a:t>
            </a:r>
            <a:r>
              <a:rPr sz="1300">
                <a:solidFill>
                  <a:srgbClr val="6B7280"/>
                </a:solidFill>
              </a:rPr>
              <a:t> — lr, depth, semilla, versión data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Métricas</a:t>
            </a:r>
            <a:r>
              <a:rPr sz="1300">
                <a:solidFill>
                  <a:srgbClr val="6B7280"/>
                </a:solidFill>
              </a:rPr>
              <a:t> — f1, auc, recall por clase, MAE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Artefactos</a:t>
            </a:r>
            <a:r>
              <a:rPr sz="1300">
                <a:solidFill>
                  <a:srgbClr val="6B7280"/>
                </a:solidFill>
              </a:rPr>
              <a:t> — modelo, gráficos, matriz confusión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Tags</a:t>
            </a:r>
            <a:r>
              <a:rPr sz="1300">
                <a:solidFill>
                  <a:srgbClr val="6B7280"/>
                </a:solidFill>
              </a:rPr>
              <a:t> — owner, dataset_version, hardware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Entorno</a:t>
            </a:r>
            <a:r>
              <a:rPr sz="1300">
                <a:solidFill>
                  <a:srgbClr val="6B7280"/>
                </a:solidFill>
              </a:rPr>
              <a:t> — requirements.txt, python version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Source</a:t>
            </a:r>
            <a:r>
              <a:rPr sz="1300">
                <a:solidFill>
                  <a:srgbClr val="6B7280"/>
                </a:solidFill>
              </a:rPr>
              <a:t> — git commit 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Para qué sirve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Comparar 200 runs sin abrir un Excel.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Reproducir cualquier resultado del último año.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Auditar: qué entrenó este modelo en producción.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Compartir progreso con el equipo sin notebooks.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Promocionar el mejor modelo a Staging/Prod.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34 / 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MLflow: 4 componentes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669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669280" cy="6400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D29"/>
                </a:solidFill>
                <a:latin typeface="Calibri"/>
              </a:rPr>
              <a:t>API + UI para loggear params, métricas y artefactos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669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66928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8016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D29"/>
                </a:solidFill>
                <a:latin typeface="Calibri"/>
              </a:rPr>
              <a:t>Empaqueta código en formato reproducible (MLproject yaml)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5669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6692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1999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D29"/>
                </a:solidFill>
                <a:latin typeface="Calibri"/>
              </a:rPr>
              <a:t>Formato unificado para guardar modelos (flavors)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49039"/>
            <a:ext cx="5669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566928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749039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Registry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571999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D29"/>
                </a:solidFill>
                <a:latin typeface="Calibri"/>
              </a:rPr>
              <a:t>Hub central de modelos con versiones y stages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35 / 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MLflow Tracking: API mínima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50292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import mlflow, mlflow.sklearn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from sklearn.ensemble import RandomForestClassifier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from sklearn.metrics import f1_score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mlflow.set_tracking_uri('http://localhost:5000')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mlflow.set_experiment('income-classifier')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with mlflow.start_run(run_name='rf-baseline') as run: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mlflow.log_params({'n_estimators': 200, 'max_depth': 8})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mlflow.set_tag('dataset_version', 'v1.2')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mlflow.set_tag('owner', 'jpicon')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model = RandomForestClassifier(n_estimators=200, max_depth=8)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model.fit(X_train, y_train)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f1 = f1_score(y_test, model.predict(X_test))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mlflow.log_metric('f1', f1)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mlflow.sklearn.log_model(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    model, name='model',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    signature=mlflow.models.infer_signature(X_train, y_train),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    input_example=X_train.head(3))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36 / 44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MLflow Model Registry: el flujo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286000" cy="91440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1645920"/>
            <a:ext cx="548640" cy="36576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371600"/>
            <a:ext cx="2286000" cy="9144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3716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69280" y="1645920"/>
            <a:ext cx="548640" cy="36576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28600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716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549640" y="1645920"/>
            <a:ext cx="548640" cy="36576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98280" y="1371600"/>
            <a:ext cx="2286000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3716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Archived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Flujo recomendado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91840"/>
            <a:ext cx="109728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Cada run produce una versión candidata (v1, v2, v3…).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Tras evaluación automática, la mejor pasa a Staging.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Tras revisión humana + tests de integración → Production.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Cuando se reemplaza, la anterior pasa a Archived (no se borra).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Toda transición queda auditada (quién, cuándo, comentario).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37 / 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Alternativas a MLflow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377440" cy="8229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Weights &amp; Biases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188720"/>
            <a:ext cx="8778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23444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SaaS, UI brillante, integraciones LLMs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60020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Ideal: Equipos con presupuesto, foco en investigación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48840"/>
            <a:ext cx="2377440" cy="82296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488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Neptune.ai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2148840"/>
            <a:ext cx="8778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19456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Tracking + monitoring, on-prem opcional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56032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Ideal: Equipos enterprise con compliance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2377440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Comet 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3108960"/>
            <a:ext cx="8778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315468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Foco en colaboración y reportes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52044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Ideal: Equipos product-data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69080"/>
            <a:ext cx="237744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690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Aim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4069080"/>
            <a:ext cx="8778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411480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Open source ligero, self-host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48056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Ideal: Equipos pequeños sin K8s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029200"/>
            <a:ext cx="2377440" cy="822960"/>
          </a:xfrm>
          <a:prstGeom prst="round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ClearML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5029200"/>
            <a:ext cx="8778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A0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507492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Plataforma full open 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44068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055F7"/>
                </a:solidFill>
                <a:latin typeface="Calibri"/>
              </a:rPr>
              <a:t>Ideal: Quieren todo en uno + remote agents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38 / 44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Reproducibilidad: los 3 pilares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749039" cy="32004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38328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Git commit hash + tag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No se entrena 'desde main'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371600"/>
            <a:ext cx="3749039" cy="32004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37160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86000"/>
            <a:ext cx="338328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Hash del dataset (DVC)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Versión registrada en el 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371600"/>
            <a:ext cx="3749039" cy="3200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37160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Entorno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5" y="2286000"/>
            <a:ext cx="338328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Imagen Docker + lockfile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Requirements pinneados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1124712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6B35"/>
                </a:solidFill>
                <a:latin typeface="Calibri"/>
              </a:rPr>
              <a:t>Si falta uno de los tres, no es reproducible. Punto.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39 / 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Model Signature e input_example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Por qué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Documenta el contrato del modelo (qué entra, qué sale).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Permite validar inputs en serving automáticamente.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Detecta cambios de schema entre runs.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Integración directa con FastAPI / serving MLflow.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Cómo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486400" cy="45720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521208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from mlflow.models import infer_signature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sig = infer_signature(X_train, y_pred)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mlflow.sklearn.log_model(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sk_model=model,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name='model',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signature=sig,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input_example=X_train.head(3),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pip_requirements=[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    'scikit-learn==1.5.2',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    'pandas==2.2.2'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]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40 / 44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Lab 2 — MLflow Tracking + Registry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Objetivo: experimentos reproducibles y un modelo en Staging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Conectar al MLflow Tracking del docker-compose.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Entrenar 3 modelos: LogReg, RandomForest, XGBoost.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Loggear params, metrics, signature, input_example.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Comparar runs en la UI (gráfico paralelo).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Registrar el mejor → versión 1.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Promover a Staging desde la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Comprobaciones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Experimento 'income-classifier' tiene ≥3 runs.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Cada run tiene tag 'dataset_version' = output del Lab 1.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El run ganador tiene un modelo con signature.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El Registry muestra 'income-clf v1 → Staging'.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Puedes recuperar el modelo con 'models:/income-clf/Staging'.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41 / 44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Buenas prácticas de tagging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Tags imprescindibles en CADA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2286000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git_commit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8288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hash del commit que entrenó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2286000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dataset_version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8288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ej. dvc-hash o tag semántico v1.2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68880"/>
            <a:ext cx="2286000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data_window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4688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rango temporal de los datos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468880"/>
            <a:ext cx="2286000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4688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4688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humano responsable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08960"/>
            <a:ext cx="2286000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08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ticket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1089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JIRA/Linear que motiva el experimento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108960"/>
            <a:ext cx="2286000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08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hardware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1089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cpu/gpu, memoria — relevante para coste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49039"/>
            <a:ext cx="2286000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4903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framework_version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749039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scikit, torch, etc.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749039"/>
            <a:ext cx="2286000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4903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base_model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749039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si es fine-tuning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42 / 44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Anti-patterns en experimentación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430000" cy="5029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✗  </a:t>
            </a:r>
            <a:r>
              <a:rPr sz="1600">
                <a:solidFill>
                  <a:srgbClr val="1A1D29"/>
                </a:solidFill>
              </a:rPr>
              <a:t>Loggear solo métricas: pierdes el modelo si lo necesitas reentrenar.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✗  </a:t>
            </a:r>
            <a:r>
              <a:rPr sz="1600">
                <a:solidFill>
                  <a:srgbClr val="1A1D29"/>
                </a:solidFill>
              </a:rPr>
              <a:t>Un experimento gigante con 5000 runs sin filtros: imposible navegar.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✗  </a:t>
            </a:r>
            <a:r>
              <a:rPr sz="1600">
                <a:solidFill>
                  <a:srgbClr val="1A1D29"/>
                </a:solidFill>
              </a:rPr>
              <a:t>Run sin git_commit: no sabes qué código produjo el resultado.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✗  </a:t>
            </a:r>
            <a:r>
              <a:rPr sz="1600">
                <a:solidFill>
                  <a:srgbClr val="1A1D29"/>
                </a:solidFill>
              </a:rPr>
              <a:t>Run sin dataset_version: no sabes qué dato produjo el resultado.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✗  </a:t>
            </a:r>
            <a:r>
              <a:rPr sz="1600">
                <a:solidFill>
                  <a:srgbClr val="1A1D29"/>
                </a:solidFill>
              </a:rPr>
              <a:t>Renombrar runs a mano: el equipo pierde la trazabilidad.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✗  </a:t>
            </a:r>
            <a:r>
              <a:rPr sz="1600">
                <a:solidFill>
                  <a:srgbClr val="1A1D29"/>
                </a:solidFill>
              </a:rPr>
              <a:t>'Promocionar' un modelo copiando un .pkl: bypassea el Registry.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</a:rPr>
              <a:t>✗  </a:t>
            </a:r>
            <a:r>
              <a:rPr sz="1600">
                <a:solidFill>
                  <a:srgbClr val="1A1D29"/>
                </a:solidFill>
              </a:rPr>
              <a:t>Confiar en una sola métrica: F1 alto puede ocultar mal recall por clase.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43 / 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Cierre Día 1 + reto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Lo que tenemos al final del día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B4D8"/>
                </a:solidFill>
              </a:rPr>
              <a:t>●  </a:t>
            </a:r>
            <a:r>
              <a:rPr sz="1700">
                <a:solidFill>
                  <a:srgbClr val="1A1D29"/>
                </a:solidFill>
              </a:rPr>
              <a:t>Datos versionados en MinIO con DVC y validados con Great Expectations.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0B4D8"/>
                </a:solidFill>
              </a:rPr>
              <a:t>●  </a:t>
            </a:r>
            <a:r>
              <a:rPr sz="1700">
                <a:solidFill>
                  <a:srgbClr val="1A1D29"/>
                </a:solidFill>
              </a:rPr>
              <a:t>3 experimentos comparables en MLflow.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0B4D8"/>
                </a:solidFill>
              </a:rPr>
              <a:t>●  </a:t>
            </a:r>
            <a:r>
              <a:rPr sz="1700">
                <a:solidFill>
                  <a:srgbClr val="1A1D29"/>
                </a:solidFill>
              </a:rPr>
              <a:t>Un modelo en Staging listo para servirse mañana.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47120" cy="20116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Reto del día (opcional)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Añade una expectation propia (ej: 'native-country' debe estar en una lista cerrada).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Entrena un cuarto modelo con búsqueda de hiperparámetros y vence al actual.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Subimos resultados al canal del curso. Mañana revisamos en 5 min.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44 / 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