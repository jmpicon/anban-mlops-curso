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MLOps / DataOps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6B35"/>
                </a:solidFill>
                <a:latin typeface="Calibri"/>
              </a:rPr>
              <a:t>Producción: serving, CI/CD y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49039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Día 2 — De Staging a Production y vivir contándolo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6B35"/>
                </a:solidFill>
                <a:latin typeface="Calibri"/>
              </a:rPr>
              <a:t>ANBAN · Asociación Big Data España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José Picón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Recap Día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0B4D8"/>
                </a:solidFill>
              </a:rPr>
              <a:t>●  </a:t>
            </a:r>
            <a:r>
              <a:rPr sz="2000">
                <a:solidFill>
                  <a:srgbClr val="1A1D29"/>
                </a:solidFill>
              </a:rPr>
              <a:t>Diagnosticamos madurez MLOps (L0/L1/L2) y mapamos roles del equipo.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B4D8"/>
                </a:solidFill>
              </a:rPr>
              <a:t>●  </a:t>
            </a:r>
            <a:r>
              <a:rPr sz="2000">
                <a:solidFill>
                  <a:srgbClr val="1A1D29"/>
                </a:solidFill>
              </a:rPr>
              <a:t>DataOps = pipelines + versionado (DVC) + calidad (GE) + lineage.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B4D8"/>
                </a:solidFill>
              </a:rPr>
              <a:t>●  </a:t>
            </a:r>
            <a:r>
              <a:rPr sz="2000">
                <a:solidFill>
                  <a:srgbClr val="1A1D29"/>
                </a:solidFill>
              </a:rPr>
              <a:t>MLflow nos da Tracking + Models + Registry para experimentar y promocionar.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0B4D8"/>
                </a:solidFill>
              </a:rPr>
              <a:t>●  </a:t>
            </a:r>
            <a:r>
              <a:rPr sz="2000">
                <a:solidFill>
                  <a:srgbClr val="1A1D29"/>
                </a:solidFill>
              </a:rPr>
              <a:t>Tenemos un modelo en Staging listo para ser servido.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Hoy: cómo lo llevamos a producción y cómo lo mantenemos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 · Día 2 (4 horas)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554480" cy="6400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00:00–01:00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28016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2801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28016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Empaquetado y serving (FastAPI + Docker)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57400"/>
            <a:ext cx="1554480" cy="6400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01:00–01:15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05740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0574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0574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Pausa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34640"/>
            <a:ext cx="1554480" cy="6400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01:15–02:30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283464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8346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83464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CI/CD para ML + Monitoring + Drift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1554480" cy="6400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02:30–02:45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61188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6118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6118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Pausa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89120"/>
            <a:ext cx="155448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02:45–03:45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438912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43891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8912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Caso end-to-end + Governance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66360"/>
            <a:ext cx="155448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03:45–04:00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5166360"/>
            <a:ext cx="822960" cy="640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51663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16636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D29"/>
                </a:solidFill>
                <a:latin typeface="Calibri"/>
              </a:rPr>
              <a:t>Cierre y siguientes pasos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Módulo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Empaquetado y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  <a:latin typeface="Calibri"/>
              </a:rPr>
              <a:t>Llevar el modelo del Registry a una API en contenedor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Patrones de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828800" cy="10972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188720"/>
            <a:ext cx="9326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280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Predicciones programadas, escritas a tabla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83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Cuándo: Recomendaciones diarias, scoring nocturno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1828800" cy="10972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Online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468880"/>
            <a:ext cx="9326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560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API síncrona &lt;100ms (REST/gRPC)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063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Cuándo: Fraude, recommendation realtime, antispam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18288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3749039"/>
            <a:ext cx="9326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84047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Predicciones por evento (Kafka/Pub-Sub)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34339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Cuándo: IoT, click stream, anomalías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199"/>
            <a:ext cx="1828800" cy="10972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29199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5029199"/>
            <a:ext cx="9326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51206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Modelo en el dispositivo (móvil, browser, IoT)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62355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Cuándo: Latencia mínima, datos sensibles, offline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Empaquetado: cómo se va el modelo de viaje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560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Pickle/Joblib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188720"/>
            <a:ext cx="8595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1887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Sencillo pero atado a Python y a versión exacta de libs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2560320" cy="5943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ONNX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1874519"/>
            <a:ext cx="8595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874519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Estándar abierto, multi-framework, multi-runtime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60320"/>
            <a:ext cx="2560320" cy="59436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603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MLflow flavor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2560320"/>
            <a:ext cx="8595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5603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Modelo + entorno + signature en un único bundle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46120"/>
            <a:ext cx="2560320" cy="5943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BentoML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3246120"/>
            <a:ext cx="8595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2461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Empaqueta servicio + modelo + Dockerfile autogenerado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31920"/>
            <a:ext cx="2560320" cy="59436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TF Serving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3931920"/>
            <a:ext cx="8595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A0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9319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Servidor optimizado para SavedModel TF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17720"/>
            <a:ext cx="2560320" cy="5943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TorchServe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4617720"/>
            <a:ext cx="8595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46177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Equivalente para PyTorch, batching dinámico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03520"/>
            <a:ext cx="2560320" cy="594360"/>
          </a:xfrm>
          <a:prstGeom prst="roundRect">
            <a:avLst/>
          </a:prstGeom>
          <a:solidFill>
            <a:srgbClr val="EC4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Triton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5303520"/>
            <a:ext cx="8595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C4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53035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NVIDIA, GPU/CPU, multi-modelo, gRPC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Diseñar la API: contrato y validación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Endpoints mínimos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POST /predict</a:t>
            </a:r>
            <a:r>
              <a:rPr sz="1200">
                <a:solidFill>
                  <a:srgbClr val="6B7280"/>
                </a:solidFill>
              </a:rPr>
              <a:t> — predicción (JSON in, JSON out)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GET /health</a:t>
            </a:r>
            <a:r>
              <a:rPr sz="1200">
                <a:solidFill>
                  <a:srgbClr val="6B7280"/>
                </a:solidFill>
              </a:rPr>
              <a:t> — liveness + readiness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GET /version</a:t>
            </a:r>
            <a:r>
              <a:rPr sz="1200">
                <a:solidFill>
                  <a:srgbClr val="6B7280"/>
                </a:solidFill>
              </a:rPr>
              <a:t> — modelo, run_id, signature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GET /metrics</a:t>
            </a:r>
            <a:r>
              <a:rPr sz="1200">
                <a:solidFill>
                  <a:srgbClr val="6B7280"/>
                </a:solidFill>
              </a:rPr>
              <a:t> — Prometheus expose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POST /explain</a:t>
            </a:r>
            <a:r>
              <a:rPr sz="1200">
                <a:solidFill>
                  <a:srgbClr val="6B7280"/>
                </a:solidFill>
              </a:rPr>
              <a:t> — shap values (opcional)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Validación con Pydantic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486400" cy="47548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52120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from pydantic import BaseModel, Field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class Features(BaseModel):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age: int = Field(ge=0, le=120)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workclass: str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education_num: int = Field(ge=0, le=20)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hours_per_week: int = Field(ge=0, le=99)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capital_gain: float = Field(ge=0)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class Prediction(BaseModel):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label: int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proba: float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model_version: str</a:t>
            </a:r>
          </a:p>
          <a:p>
            <a:pPr algn="l"/>
            <a:r>
              <a:rPr sz="1300" b="0">
                <a:solidFill>
                  <a:srgbClr val="00B4D8"/>
                </a:solidFill>
                <a:latin typeface="Consolas"/>
              </a:rPr>
              <a:t>    request_id: 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Performance: qué medir y cómo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Métricas de servicio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Latencia p50/p95/p99</a:t>
            </a:r>
            <a:r>
              <a:rPr sz="1200">
                <a:solidFill>
                  <a:srgbClr val="6B7280"/>
                </a:solidFill>
              </a:rPr>
              <a:t> — el promedio engaña, el p99 es el SLA real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Throughput RPS</a:t>
            </a:r>
            <a:r>
              <a:rPr sz="1200">
                <a:solidFill>
                  <a:srgbClr val="6B7280"/>
                </a:solidFill>
              </a:rPr>
              <a:t> — requests por segundo sostenidos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Tasa de error</a:t>
            </a:r>
            <a:r>
              <a:rPr sz="1200">
                <a:solidFill>
                  <a:srgbClr val="6B7280"/>
                </a:solidFill>
              </a:rPr>
              <a:t> — 5xx + timeouts + payload inválido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Saturación</a:t>
            </a:r>
            <a:r>
              <a:rPr sz="1200">
                <a:solidFill>
                  <a:srgbClr val="6B7280"/>
                </a:solidFill>
              </a:rPr>
              <a:t> — CPU, memoria, GPU util, queue depth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Cold start</a:t>
            </a:r>
            <a:r>
              <a:rPr sz="1200">
                <a:solidFill>
                  <a:srgbClr val="6B7280"/>
                </a:solidFill>
              </a:rPr>
              <a:t> — tiempo desde ↑ contenedor hasta primer 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Estrategias para bajar latencia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Quantización (int8/fp16) o destilación.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Batching dinámico en serving.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Cache de predicciones para inputs frecuentes.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Modelos en ONNX runtime (&gt;2× más rápido a veces).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Pre-cargar features desde el feature store.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Async I/O en FastAPI + uvicorn workers.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Train ≠ Serve: el bug clásico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914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El modelo predice peor en producción que en evaluación. ¿Por qué?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5669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37160" cy="1097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Encoding distinto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OneHot fitted en train, otro fitted en serve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86000"/>
            <a:ext cx="5669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137160" cy="1097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Imputación incoherente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889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median train ≠ median real-time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5669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137160" cy="1097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Tipos diferentes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int en train, str en 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566160"/>
            <a:ext cx="5669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566160"/>
            <a:ext cx="137160" cy="1097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Features faltantes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690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campo opcional en producción que en train siempre venía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46320"/>
            <a:ext cx="5669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137160" cy="1097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377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Tiempo y zona horaria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UTC vs local lleva a otro día/semana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846320"/>
            <a:ext cx="5669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846320"/>
            <a:ext cx="137160" cy="1097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377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Versión de librería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492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scikit 1.4 vs 1.5 cambia un default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Prevención: pipeline serializado completo (sklearn Pipeline / mlflow.pyfunc).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Lab 3 — FastAPI + Docker (40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6400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Objetivo: servir el modelo del Lab 2 como API contenedorizada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Cargar modelo desde 'models:/income-clf/Staging'.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Implementar /predict, /health, /version con Pydantic.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Dockerfile multi-stage (slim, ~250MB).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Levantar con docker run y curl.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Stress test con Locust 50 usuarios concurrentes.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Validar p95 &lt; 100ms.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Comprobaciones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GET /health responde 200 &lt; 50ms.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GET /version devuelve run_id y signature.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POST /predict valida input y devuelve label + proba.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Locust report HTML con estadísticas.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Imagen final &lt; 300MB.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Dockerfile multi-stage para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3035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# stage 1: builder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FROM python:3.11-slim AS builder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WORKDIR /build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COPY requirements.txt .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RUN pip install --user --no-cache-dir -r requirements.txt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# stage 2: runtime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FROM python:3.11-slim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WORKDIR /app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COPY --from=builder /root/.local /root/.local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ENV PATH=/root/.local/bin:$PATH \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MLFLOW_TRACKING_URI=http://mlflow:5000 \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MODEL_URI=models:/income-clf/Staging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COPY app/ ./app/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# usuario sin privilegios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RUN useradd -u 1000 -m svc &amp;&amp; chown -R svc /app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USER svc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EXPOSE 8000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HEALTHCHECK --interval=30s --timeout=3s \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CMD curl -f http://localhost:8000/health || exit 1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CMD ["uvicorn", "app.main:app", "--host", "0.0.0.0", "--port", "8000"]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Recap Módulo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Elige patrón de serving por requisito de latencia / volumen / contexto.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Empaqueta modelo con su entorno (mlflow flavor) — no solo el .pkl.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API con contrato: Pydantic valida, Swagger documenta gratis.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Mide latencia en p95/p99, no en promedios.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Train/Serve skew: serializa el pipeline completo, no solo el estimador.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Imagen Docker mínima (&lt; 300MB) y user no-root.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Módulo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CI/CD + Monitoring +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  <a:latin typeface="Calibri"/>
              </a:rPr>
              <a:t>Automatizar la release y detectar la degradación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 / CD / CT: el triple bucle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749039" cy="45720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Continuous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Tests código, tests de datos, lint,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280160"/>
            <a:ext cx="3749039" cy="45720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3716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2860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Continuous Delivery /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01752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Build modelo, build imagen, despliegue gradual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280160"/>
            <a:ext cx="3749039" cy="4572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37160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2860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Continuous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5" y="301752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Reentrenamiento automático por trigger (drift, calendario)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Pipeline ML típico: jobs encadenados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86000"/>
            <a:ext cx="1508760" cy="9144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Lint+Test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0240" y="2606040"/>
            <a:ext cx="109728" cy="27432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9968" y="2286000"/>
            <a:ext cx="1508760" cy="914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8" y="22860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Validate Data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84448" y="2606040"/>
            <a:ext cx="109728" cy="27432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94176" y="2286000"/>
            <a:ext cx="150876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2860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48656" y="2606040"/>
            <a:ext cx="109728" cy="27432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58384" y="2286000"/>
            <a:ext cx="150876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22860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12864" y="2606040"/>
            <a:ext cx="109728" cy="27432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22592" y="2286000"/>
            <a:ext cx="1508760" cy="91440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22860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Promote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77072" y="2606040"/>
            <a:ext cx="109728" cy="27432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0" y="2286000"/>
            <a:ext cx="150876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2860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Build Img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241280" y="2606040"/>
            <a:ext cx="109728" cy="27432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51008" y="2286000"/>
            <a:ext cx="1508760" cy="914400"/>
          </a:xfrm>
          <a:prstGeom prst="roundRect">
            <a:avLst/>
          </a:prstGeom>
          <a:solidFill>
            <a:srgbClr val="EC4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51008" y="228600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Detalles por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06240"/>
            <a:ext cx="109728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Lint+Test</a:t>
            </a:r>
            <a:r>
              <a:rPr sz="1100">
                <a:solidFill>
                  <a:srgbClr val="6B7280"/>
                </a:solidFill>
              </a:rPr>
              <a:t> — ruff + pytest, cobertura, mypy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Validate Data</a:t>
            </a:r>
            <a:r>
              <a:rPr sz="1100">
                <a:solidFill>
                  <a:srgbClr val="6B7280"/>
                </a:solidFill>
              </a:rPr>
              <a:t> — Great Expectations / Pandera sobre snapshot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Train</a:t>
            </a:r>
            <a:r>
              <a:rPr sz="1100">
                <a:solidFill>
                  <a:srgbClr val="6B7280"/>
                </a:solidFill>
              </a:rPr>
              <a:t> — dvc repro o python train.py + MLflow log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Evaluate</a:t>
            </a:r>
            <a:r>
              <a:rPr sz="1100">
                <a:solidFill>
                  <a:srgbClr val="6B7280"/>
                </a:solidFill>
              </a:rPr>
              <a:t> — tests de métrica mínima, fairness, slices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Promote</a:t>
            </a:r>
            <a:r>
              <a:rPr sz="1100">
                <a:solidFill>
                  <a:srgbClr val="6B7280"/>
                </a:solidFill>
              </a:rPr>
              <a:t> — si supera al modelo Production en ≥ X%, mover stage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Build / Deploy</a:t>
            </a:r>
            <a:r>
              <a:rPr sz="1100">
                <a:solidFill>
                  <a:srgbClr val="6B7280"/>
                </a:solidFill>
              </a:rPr>
              <a:t> — docker build + push, helm/kubectl rollout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GitHub Actions: workflow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212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# .github/workflows/ml.yml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name: ml-pipeline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on: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pull_request: { branches: [main] }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schedule: [{ cron: '0 4 * * 1' }]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jobs: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test: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runs-on: ubuntu-latest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steps: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  - uses: actions/checkout@v4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  - uses: actions/setup-python@v5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    with: { python-version: '3.11' }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  - run: pip install -r requirements.txt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  - run: ruff check . &amp;&amp; pytest -v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train: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needs: test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runs-on: ubuntu-latest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steps: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  - uses: actions/checkout@v4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  - run: pip install -r requirements.txt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  - run: dvc pull &amp;&amp; python src/train.py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  - run: python src/promote_if_better.py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Estrategias de despliegue de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669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828800" cy="14630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3258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Apaga v1, sube v2. Hay downtime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965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Cuándo: Cargas internas, no críticas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5669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1828800" cy="14630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18872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Blue/Green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258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Tráfico salta de v1 a v2 entero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Cuándo: Apps con ventana de mantenimiento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80360"/>
            <a:ext cx="5669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880360"/>
            <a:ext cx="1828800" cy="14630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8036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0175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5% → 25% → 50% → 100% con auto-rollback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657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Cuándo: Producción con tráfico real, riesgo controlado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880360"/>
            <a:ext cx="5669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880360"/>
            <a:ext cx="1828800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88036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Shadow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0175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v2 recibe copia del tráfico, no responde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7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Cuándo: Comparar predicciones antes de exponer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72000"/>
            <a:ext cx="5669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182880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A/B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7091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% de usuarios a v2, comparas KPI negocio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3492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Cuándo: Decisión con métrica de producto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572000"/>
            <a:ext cx="5669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A0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572000"/>
            <a:ext cx="1828800" cy="1463040"/>
          </a:xfrm>
          <a:prstGeom prst="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5720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Multi-armed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7091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Asignación adaptativa al mejor modelo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3492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055F7"/>
                </a:solidFill>
                <a:latin typeface="Calibri"/>
              </a:rPr>
              <a:t>Cuándo: Recomendadores, growth experimentation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¿Qué monitorizar en un modelo?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286000" cy="9144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Servicio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371600"/>
            <a:ext cx="8869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37160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D29"/>
                </a:solidFill>
                <a:latin typeface="Calibri"/>
              </a:rPr>
              <a:t>Latencia, throughput, errores, CPU/mem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2286000" cy="914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560320"/>
            <a:ext cx="8869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56032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D29"/>
                </a:solidFill>
                <a:latin typeface="Calibri"/>
              </a:rPr>
              <a:t>Distribución de inputs vs referencia, missing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228600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3749039"/>
            <a:ext cx="8869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3749039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D29"/>
                </a:solidFill>
                <a:latin typeface="Calibri"/>
              </a:rPr>
              <a:t>Accuracy proxy, distribución de 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228600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Negocio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4937760"/>
            <a:ext cx="8869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493776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D29"/>
                </a:solidFill>
                <a:latin typeface="Calibri"/>
              </a:rPr>
              <a:t>Conversión, ingreso, NPS — el por qué último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126480"/>
            <a:ext cx="11247120" cy="4572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Sin la capa de negocio, no sabes si el modelo realmente sirve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Tipos de drift: P(X), P(y), P(y|X)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669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669280" cy="6400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 drift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(covariate shift)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Cambia P(X). Los inputs entran distinto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Ejemplo: Nuevos clientes, estacionalidad, pandemia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5669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66928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18872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Label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Cambia P(y). La proporción de clases varía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Ejemplo: Más fraudes en navidad, menos churn en verano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5669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566928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Concept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Cambia P(y|X). La relación entrada→salida cambia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Ejemplo: Comportamiento de cliente cambia con la inflación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57600"/>
            <a:ext cx="5669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657600"/>
            <a:ext cx="566928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6576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Upstream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348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Un sistema upstream cambia formato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07492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Ejemplo: Proveedor empieza a mandar 'NA' en lugar de null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Tests estadísticos para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474720" cy="77724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PSI (Population Stability Index)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280160"/>
            <a:ext cx="7680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28016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Compara distribuciones discretas. Umbral típico: &lt;0.1 ok, &gt;0.25 alerta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94560"/>
            <a:ext cx="3474720" cy="7772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Kolmogorov-Smirnov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194560"/>
            <a:ext cx="7680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19456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Continuo. Sensible al tamaño muestral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08960"/>
            <a:ext cx="347472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Chi-cuadrado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108960"/>
            <a:ext cx="7680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10896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Categórico, frecuencias esperadas vs observadas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3474720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Wasserstein / Earth Mover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023360"/>
            <a:ext cx="7680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402336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Distancia entre distribuciones, robusto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3474720" cy="77724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Jensen-Shannon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937760"/>
            <a:ext cx="7680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A0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937760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A1D29"/>
                </a:solidFill>
                <a:latin typeface="Calibri"/>
              </a:rPr>
              <a:t>Divergencia entre distribuciones, simétrico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Usa varios tests: cada uno mira algo diferente.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Evidently: drift y 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Qué te 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Reportes HTML interactivos comparando referencia vs producción.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Tests automatizables (ok/fail) para CI.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Métricas: data drift, target drift, performance.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Servicio de monitoring continuo (Evidently UI).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Código mínimo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486400" cy="47548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52120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from evidently.report import Report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from evidently.metrics import (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DataDriftPreset,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DataQualityPreset,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report = Report(metrics=[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DataDriftPreset(),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DataQualityPreset(),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])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report.run(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reference_data=ref_df,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    current_data=prod_df,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report.save_html('drift.html')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tests = TestSuite(tests=[NoTargetPerformanceTestPreset()])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tests.run(reference_data=ref, current_data=prod)</a:t>
            </a:r>
          </a:p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assert tests.as_dict()['summary']['all_passed']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 la métrica a la 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Cuándo dispara una alerta no es trivial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Threshold simple</a:t>
            </a:r>
            <a:r>
              <a:rPr sz="1300">
                <a:solidFill>
                  <a:srgbClr val="6B7280"/>
                </a:solidFill>
              </a:rPr>
              <a:t> — drift &gt; 0.25 → alerta. Fácil pero ruidoso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Ventana móvil</a:t>
            </a:r>
            <a:r>
              <a:rPr sz="1300">
                <a:solidFill>
                  <a:srgbClr val="6B7280"/>
                </a:solidFill>
              </a:rPr>
              <a:t> — promedio últimas 7 ejecuciones &gt; umbral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CUSUM</a:t>
            </a:r>
            <a:r>
              <a:rPr sz="1300">
                <a:solidFill>
                  <a:srgbClr val="6B7280"/>
                </a:solidFill>
              </a:rPr>
              <a:t> — detecta cambios sostenidos vs picos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Anomaly score</a:t>
            </a:r>
            <a:r>
              <a:rPr sz="1300">
                <a:solidFill>
                  <a:srgbClr val="6B7280"/>
                </a:solidFill>
              </a:rPr>
              <a:t> — modelo de anomalías sobre las propias métricas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 b="1">
                <a:solidFill>
                  <a:srgbClr val="1A1D29"/>
                </a:solidFill>
              </a:rPr>
              <a:t>Mixto</a:t>
            </a:r>
            <a:r>
              <a:rPr sz="1300">
                <a:solidFill>
                  <a:srgbClr val="6B7280"/>
                </a:solidFill>
              </a:rPr>
              <a:t> — métrica del modelo + métrica de negocio + tiempo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Posibles reacciones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Avisar al owner (Slack, PagerDuty).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Disparar reentrenamiento (CT job).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Hacer rollback automático al modelo anterior.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B4D8"/>
                </a:solidFill>
              </a:rPr>
              <a:t>●  </a:t>
            </a:r>
            <a:r>
              <a:rPr sz="1500">
                <a:solidFill>
                  <a:srgbClr val="1A1D29"/>
                </a:solidFill>
              </a:rPr>
              <a:t>Enrutar tráfico a fallback (heurística simple).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Lab 4 — CI/CD + Monitoring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6400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Objetivo: pipeline GitHub Actions y reporte de drift Evidently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Configurar workflow ml.yml con jobs en cadena.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Job 'evaluate' compara modelo nuevo vs Production.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Si supera, mueve a Staging vía API MLflow.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Generar reporte Evidently con dato 'drifted'.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Endpoint /monitor en la API que devuelve resumen.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Comprobaciones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Workflow corre en push y muestra ✓ o ✗.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El job promote solo aplica si f1 nuevo ≥ f1 prod + 1%.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drift.html se genera y se sube como artifact.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GET /monitor responde con drift_score por feature.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Recap Módulo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CI valida código + datos + modelo. CD despliega. CT reentrena.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GitHub Actions / GitLab CI / Argo CD: elige uno y vívelo.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Patrón de despliegue ≠ idea de moda: depende del riesgo y del KPI.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Monitoriza en 4 capas: servicio · datos · modelo · negocio.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Drift en P(X), P(y) o P(y|X). Mide con varios tests, alerta con criterio.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</a:rPr>
              <a:t>●  </a:t>
            </a:r>
            <a:r>
              <a:rPr sz="1800">
                <a:solidFill>
                  <a:srgbClr val="1A1D29"/>
                </a:solidFill>
              </a:rPr>
              <a:t>La alerta sin reacción documentada es ruido.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Módulo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Caso end-to-end +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  <a:latin typeface="Calibri"/>
              </a:rPr>
              <a:t>Cerrar el ciclo y mirar lo que falta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Store: el por qué y el cuándo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Por qué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Consistencia train/serve</a:t>
            </a:r>
            <a:r>
              <a:rPr sz="1200">
                <a:solidFill>
                  <a:srgbClr val="6B7280"/>
                </a:solidFill>
              </a:rPr>
              <a:t> — misma feature, misma definición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Reuso entre modelos</a:t>
            </a:r>
            <a:r>
              <a:rPr sz="1200">
                <a:solidFill>
                  <a:srgbClr val="6B7280"/>
                </a:solidFill>
              </a:rPr>
              <a:t> — no recalcular RFM en cada equipo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Time-travel correcto</a:t>
            </a:r>
            <a:r>
              <a:rPr sz="1200">
                <a:solidFill>
                  <a:srgbClr val="6B7280"/>
                </a:solidFill>
              </a:rPr>
              <a:t> — evita data leakage temporal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Latencia de servicio</a:t>
            </a:r>
            <a:r>
              <a:rPr sz="1200">
                <a:solidFill>
                  <a:srgbClr val="6B7280"/>
                </a:solidFill>
              </a:rPr>
              <a:t> — online store rápido (Redis/DynamoDB)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 b="1">
                <a:solidFill>
                  <a:srgbClr val="1A1D29"/>
                </a:solidFill>
              </a:rPr>
              <a:t>Governance</a:t>
            </a:r>
            <a:r>
              <a:rPr sz="1200">
                <a:solidFill>
                  <a:srgbClr val="6B7280"/>
                </a:solidFill>
              </a:rPr>
              <a:t> — catálogo de features con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Cuándo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54864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1 modelo, 1 equipo, 1 dataset → es overkill.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No hay infra para Redis/Kafka/etc.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El equipo aún no tiene un pipeline maduro.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Calibri"/>
              </a:rPr>
              <a:t>Herramientas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54864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Feast</a:t>
            </a:r>
            <a:r>
              <a:rPr sz="1100">
                <a:solidFill>
                  <a:srgbClr val="6B7280"/>
                </a:solidFill>
              </a:rPr>
              <a:t> — open source, agnóstico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Tecton</a:t>
            </a:r>
            <a:r>
              <a:rPr sz="1100">
                <a:solidFill>
                  <a:srgbClr val="6B7280"/>
                </a:solidFill>
              </a:rPr>
              <a:t> — comercial, gestionado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Hopsworks</a:t>
            </a:r>
            <a:r>
              <a:rPr sz="1100">
                <a:solidFill>
                  <a:srgbClr val="6B7280"/>
                </a:solidFill>
              </a:rPr>
              <a:t> — open source, completo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Vertex FS</a:t>
            </a:r>
            <a:r>
              <a:rPr sz="1100">
                <a:solidFill>
                  <a:srgbClr val="6B7280"/>
                </a:solidFill>
              </a:rPr>
              <a:t> — Google Cloud nativo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Databricks FS</a:t>
            </a:r>
            <a:r>
              <a:rPr sz="1100">
                <a:solidFill>
                  <a:srgbClr val="6B7280"/>
                </a:solidFill>
              </a:rPr>
              <a:t> — integrado en Lakehouse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 Governance: lo que pide la realidad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430000" cy="5029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✓  </a:t>
            </a:r>
            <a:r>
              <a:rPr sz="1400" b="1">
                <a:solidFill>
                  <a:srgbClr val="1A1D29"/>
                </a:solidFill>
              </a:rPr>
              <a:t>Model Card</a:t>
            </a:r>
            <a:r>
              <a:rPr sz="1200">
                <a:solidFill>
                  <a:srgbClr val="6B7280"/>
                </a:solidFill>
              </a:rPr>
              <a:t> — ficha del modelo: propósito, datos, métricas, sesgos, contraindicaciones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✓  </a:t>
            </a:r>
            <a:r>
              <a:rPr sz="1400" b="1">
                <a:solidFill>
                  <a:srgbClr val="1A1D29"/>
                </a:solidFill>
              </a:rPr>
              <a:t>Audit trail</a:t>
            </a:r>
            <a:r>
              <a:rPr sz="1200">
                <a:solidFill>
                  <a:srgbClr val="6B7280"/>
                </a:solidFill>
              </a:rPr>
              <a:t> — quién entrenó, quién aprobó, qué dato, qué versión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✓  </a:t>
            </a:r>
            <a:r>
              <a:rPr sz="1400" b="1">
                <a:solidFill>
                  <a:srgbClr val="1A1D29"/>
                </a:solidFill>
              </a:rPr>
              <a:t>Lineage extremo</a:t>
            </a:r>
            <a:r>
              <a:rPr sz="1200">
                <a:solidFill>
                  <a:srgbClr val="6B7280"/>
                </a:solidFill>
              </a:rPr>
              <a:t> — fila de dato → predicción → decisión → outcome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✓  </a:t>
            </a:r>
            <a:r>
              <a:rPr sz="1400" b="1">
                <a:solidFill>
                  <a:srgbClr val="1A1D29"/>
                </a:solidFill>
              </a:rPr>
              <a:t>Sesgo y fairness</a:t>
            </a:r>
            <a:r>
              <a:rPr sz="1200">
                <a:solidFill>
                  <a:srgbClr val="6B7280"/>
                </a:solidFill>
              </a:rPr>
              <a:t> — métricas por subgrupo, equal opportunity, demographic parity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✓  </a:t>
            </a:r>
            <a:r>
              <a:rPr sz="1400" b="1">
                <a:solidFill>
                  <a:srgbClr val="1A1D29"/>
                </a:solidFill>
              </a:rPr>
              <a:t>Explicabilidad</a:t>
            </a:r>
            <a:r>
              <a:rPr sz="1200">
                <a:solidFill>
                  <a:srgbClr val="6B7280"/>
                </a:solidFill>
              </a:rPr>
              <a:t> — shap, LIME, contrafactuales para decisiones de alto impacto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✓  </a:t>
            </a:r>
            <a:r>
              <a:rPr sz="1400" b="1">
                <a:solidFill>
                  <a:srgbClr val="1A1D29"/>
                </a:solidFill>
              </a:rPr>
              <a:t>Privacidad</a:t>
            </a:r>
            <a:r>
              <a:rPr sz="1200">
                <a:solidFill>
                  <a:srgbClr val="6B7280"/>
                </a:solidFill>
              </a:rPr>
              <a:t> — RGPD, derecho al olvido, anonimización, k-anonymity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✓  </a:t>
            </a:r>
            <a:r>
              <a:rPr sz="1400" b="1">
                <a:solidFill>
                  <a:srgbClr val="1A1D29"/>
                </a:solidFill>
              </a:rPr>
              <a:t>Human-in-the-loop</a:t>
            </a:r>
            <a:r>
              <a:rPr sz="1200">
                <a:solidFill>
                  <a:srgbClr val="6B7280"/>
                </a:solidFill>
              </a:rPr>
              <a:t> — decisión final humana en uso de alto impacto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✓  </a:t>
            </a:r>
            <a:r>
              <a:rPr sz="1400" b="1">
                <a:solidFill>
                  <a:srgbClr val="1A1D29"/>
                </a:solidFill>
              </a:rPr>
              <a:t>Reproducción legal</a:t>
            </a:r>
            <a:r>
              <a:rPr sz="1200">
                <a:solidFill>
                  <a:srgbClr val="6B7280"/>
                </a:solidFill>
              </a:rPr>
              <a:t> — se puede recrear el modelo de hace 18 meses si lo pide un juez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EU AI Act + RGPD: lo mínimo que tienes que saber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EU AI Act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4 niveles de riesgo: inaceptable / alto / limitado / mínimo.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Modelos de alto riesgo (RRHH, salud, crédito, justicia) requieren registro UE.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Obligación de documentación técnica y log de uso.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Transparencia: el usuario debe saber que interactúa con 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RGPD aplicado a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Base legítima para tratar datos de entrenamiento.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Derecho de acceso, rectificación y olvido también afecta a modelos entrenados.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Decisiones automatizadas (Art. 22): derecho a explicación humana.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Privacy by design: anonimización antes que pseudonimización.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Buena práctica: cada modelo en producción tiene Model Card + DPIA + log de decisiones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Cost &amp; FinOps en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Dónde se va el dinero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Entrenamiento</a:t>
            </a:r>
            <a:r>
              <a:rPr sz="1100">
                <a:solidFill>
                  <a:srgbClr val="6B7280"/>
                </a:solidFill>
              </a:rPr>
              <a:t> — GPUs caras, sobre todo si se entrena 'por si acaso'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Serving online</a:t>
            </a:r>
            <a:r>
              <a:rPr sz="1100">
                <a:solidFill>
                  <a:srgbClr val="6B7280"/>
                </a:solidFill>
              </a:rPr>
              <a:t> — instancias siempre encendidas, autoscaling difícil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Storage</a:t>
            </a:r>
            <a:r>
              <a:rPr sz="1100">
                <a:solidFill>
                  <a:srgbClr val="6B7280"/>
                </a:solidFill>
              </a:rPr>
              <a:t> — datasets versionados duplicados sin política de retention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Egress</a:t>
            </a:r>
            <a:r>
              <a:rPr sz="1100">
                <a:solidFill>
                  <a:srgbClr val="6B7280"/>
                </a:solidFill>
              </a:rPr>
              <a:t> — mover datos entre regiones/providers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 b="1">
                <a:solidFill>
                  <a:srgbClr val="1A1D29"/>
                </a:solidFill>
              </a:rPr>
              <a:t>Tooling SaaS</a:t>
            </a:r>
            <a:r>
              <a:rPr sz="1100">
                <a:solidFill>
                  <a:srgbClr val="6B7280"/>
                </a:solidFill>
              </a:rPr>
              <a:t> — Databricks, W&amp;B, Tecton — facturación opaca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Palancas para reducir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Spot instances para entrenamiento.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Batch en lugar de online cuando no hace falta latencia.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Quantización / destilación → modelos más pequeños.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Autoscaling 0→N en horas valle.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Caching agresivo de predicciones repetidas.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0B4D8"/>
                </a:solidFill>
              </a:rPr>
              <a:t>●  </a:t>
            </a:r>
            <a:r>
              <a:rPr sz="1300">
                <a:solidFill>
                  <a:srgbClr val="1A1D29"/>
                </a:solidFill>
              </a:rPr>
              <a:t>FinOps tagging en cada recurso (proyecto, modelo).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LLMOps en una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749039" cy="219456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749039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Versionar prompts como código (git + tests)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280160"/>
            <a:ext cx="3749039" cy="219456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280160"/>
            <a:ext cx="3749039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2801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103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Tests de regresión sobre benchmarks propios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280160"/>
            <a:ext cx="3749039" cy="219456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5" y="1280160"/>
            <a:ext cx="3749039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2801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5" y="2103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Filtros tóxico/PII, jailbreak, alucinación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3749039" cy="219456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3749039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199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Tokens in/out, modelo más barato cuando posible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749039"/>
            <a:ext cx="3749039" cy="219456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749039"/>
            <a:ext cx="3749039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749039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457199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Calidad del retrieval &gt; calidad del LLM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5" y="3749039"/>
            <a:ext cx="3749039" cy="2194560"/>
          </a:xfrm>
          <a:prstGeom prst="roundRect">
            <a:avLst/>
          </a:prstGeom>
          <a:solidFill>
            <a:srgbClr val="A0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6175" y="3749039"/>
            <a:ext cx="3749039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5" y="3749039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Drift de uso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5" y="457199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Los usuarios cambian cómo preguntan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Lab 5 — Recorrido end-to-end (45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Objetivo: ejecutar el ciclo completo y discutir qué falta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El recorrido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git pull → dvc pull → dependencias listas.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pytest verde.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python src/train.py loggea run en MLflow.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promote_if_better.py mueve a Staging.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docker compose up: API contesta /predict.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evidently report sobre datos sintéticos drifted.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Discusión guiada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¿Qué falta para producción 'real'?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Secret management.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Observabilidad central (Grafana/Prom).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Rollback automatizado.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Pruebas de carga periódicas.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Disaster recovery del Registry.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Hoja de ruta de aprendizaje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103120" cy="105156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Junior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280160"/>
            <a:ext cx="9052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28016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Sabe usar MLflow, DVC y FastAPI. Entrega un modelo dockerizado.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2103120" cy="10515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514600"/>
            <a:ext cx="9052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51460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Diseña pipelines CI/CD y monitorea drift. Domina al menos un orquestador.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21031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Senior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3749039"/>
            <a:ext cx="9052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3749039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Diseña la plataforma MLOps. Decide trade-offs de arquitectura, coste y riesgo.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83480"/>
            <a:ext cx="2103120" cy="10515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Staff/Arq.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4983480"/>
            <a:ext cx="9052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498348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D29"/>
                </a:solidFill>
                <a:latin typeface="Calibri"/>
              </a:rPr>
              <a:t>Define estándares de governance y forma a otros equipos. Habla con legal y producto.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Recursos para seguir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  <a:latin typeface="Calibri"/>
              </a:rPr>
              <a:t>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MLOps / DataOps · ANBAN · José Picón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Libros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Designing ML Systems — Chip Huyen (O'Reilly).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Practical MLOps — Noah Gift (O'Reilly).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Reliable Machine Learning — Cathy Chen (O'Reilly).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Building ML Powered Applications — Emmanuel Ameisen.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ml-ops.org (patrones y referencias).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Made With ML (curso open source).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MLOps Community (Slack + podcast).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Google MLOps whitepaper.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Andrej Karpathy 'Software 2.0'.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Comunidades en español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ANBAN (claro!).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BigData Spain, Codemotion, Spain AI.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0B4D8"/>
                </a:solidFill>
              </a:rPr>
              <a:t>●  </a:t>
            </a:r>
            <a:r>
              <a:rPr sz="1400">
                <a:solidFill>
                  <a:srgbClr val="1A1D29"/>
                </a:solidFill>
              </a:rPr>
              <a:t>PyData Spain, Madrid Pandas, Barcelona ML Meetup.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  <a:latin typeface="Calibri"/>
              </a:rPr>
              <a:t>Preguntas, comentarios y trolling bienvenidos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José Picón · jose.bobal@gmail.com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Material del curso disponible en el repo de ANBAN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